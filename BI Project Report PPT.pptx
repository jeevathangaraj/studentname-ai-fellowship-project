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57" r:id="rId3"/>
    <p:sldId id="258" r:id="rId4"/>
    <p:sldId id="259" r:id="rId5"/>
    <p:sldId id="260" r:id="rId6"/>
    <p:sldId id="270" r:id="rId7"/>
    <p:sldId id="261" r:id="rId8"/>
    <p:sldId id="262" r:id="rId9"/>
    <p:sldId id="263" r:id="rId10"/>
    <p:sldId id="264" r:id="rId11"/>
    <p:sldId id="265" r:id="rId12"/>
    <p:sldId id="266" r:id="rId13"/>
  </p:sldIdLst>
  <p:sldSz cx="9144000" cy="5143500" type="screen16x9"/>
  <p:notesSz cx="5143500" cy="9144000"/>
  <p:custDataLst>
    <p:tags r:id="rId15"/>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10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E60C3-A331-B34B-8C93-6F0BBF2A2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628AE-F951-27B9-D4A2-C2A2DF278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D8EF1-FE6A-61FD-41D7-653D649280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9F9B83-3458-7067-9F20-960899138EF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25655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5" Type="http://schemas.openxmlformats.org/officeDocument/2006/relationships/hyperlink" Target="file:///C:\Users\jeeva\Downloads\WhatsApp%20Video%202026-04-21%20at%208.20.11%20AM.mp4" TargetMode="External"/><Relationship Id="rId4" Type="http://schemas.openxmlformats.org/officeDocument/2006/relationships/hyperlink" Target="WhatsApp%20Video%202026-04-21%20at%208.20.11%20AM.mp4"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Jeeva T</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jeevathangaraj9@gmail.com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Bharathi Raja</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322385" y="1046432"/>
            <a:ext cx="5002346" cy="4093428"/>
          </a:xfrm>
          <a:prstGeom prst="rect">
            <a:avLst/>
          </a:prstGeom>
          <a:noFill/>
        </p:spPr>
        <p:txBody>
          <a:bodyPr wrap="square">
            <a:spAutoFit/>
          </a:bodyPr>
          <a:lstStyle/>
          <a:p>
            <a:pPr marL="285750" indent="-285750">
              <a:buFont typeface="Arial" panose="020B0604020202020204" pitchFamily="34" charset="0"/>
              <a:buChar char="•"/>
            </a:pPr>
            <a:r>
              <a:rPr lang="en-US" sz="1100" dirty="0"/>
              <a:t>This </a:t>
            </a:r>
            <a:r>
              <a:rPr lang="en-US" sz="1100" i="1" dirty="0"/>
              <a:t>project focuses on analyzing financial and economic data to derive meaningful insights using Business Intelligence and AI tools. The primary objective is to transform raw and complex datasets—such as stock market indices, GDP growth, inflation, unemployment, and commodity prices—into clear, interactive visualizations that support better decision-making.</a:t>
            </a:r>
          </a:p>
          <a:p>
            <a:pPr marL="285750" indent="-285750">
              <a:buFont typeface="Arial" panose="020B0604020202020204" pitchFamily="34" charset="0"/>
              <a:buChar char="•"/>
            </a:pPr>
            <a:r>
              <a:rPr lang="en-US" sz="1100" i="1" dirty="0"/>
              <a:t>The purpose of this project is to address the challenge of handling large and fragmented financial data by applying data cleaning, analysis, and visualization techniques. </a:t>
            </a:r>
            <a:r>
              <a:rPr lang="en-US" sz="1100" dirty="0"/>
              <a:t>It aims to help users understand market trends, identify risk levels, and explore the relationship between economic indicators and investment performance.</a:t>
            </a:r>
          </a:p>
          <a:p>
            <a:pPr marL="285750" indent="-285750">
              <a:buFont typeface="Arial" panose="020B0604020202020204" pitchFamily="34" charset="0"/>
              <a:buChar char="•"/>
            </a:pPr>
            <a:r>
              <a:rPr lang="en-US" sz="1100" dirty="0"/>
              <a:t>The </a:t>
            </a:r>
            <a:r>
              <a:rPr lang="en-US" sz="1100" i="1" dirty="0"/>
              <a:t>project utilizes tools such as Microsoft Excel for data cleaning and preprocessing, Microsoft Power BI for building interactive dashboards, and AI tools like Microsoft Copilot and ChatGPT for automated insight generation and report creation.</a:t>
            </a:r>
          </a:p>
          <a:p>
            <a:pPr marL="285750" indent="-285750">
              <a:buFont typeface="Arial" panose="020B0604020202020204" pitchFamily="34" charset="0"/>
              <a:buChar char="•"/>
            </a:pPr>
            <a:r>
              <a:rPr lang="en-US" sz="1100" dirty="0"/>
              <a:t>The expected outcomes include a </a:t>
            </a:r>
            <a:r>
              <a:rPr lang="en-US" sz="1100" i="1" dirty="0"/>
              <a:t>set of dynamic dashboards that clearly present financial performance, economic stress levels, and investment insights. These outputs enable users to identify trends, detect high-risk periods, and make informed decisions based on data.</a:t>
            </a:r>
          </a:p>
          <a:p>
            <a:pPr marL="285750" indent="-285750">
              <a:buFont typeface="Arial" panose="020B0604020202020204" pitchFamily="34" charset="0"/>
              <a:buChar char="•"/>
            </a:pPr>
            <a:r>
              <a:rPr lang="en-US" sz="1100" dirty="0"/>
              <a:t>A key highlight of this project is the integration of AI with traditional BI tools, allowing faster analysis, automated summarization, and improved clarity of insights. The project demonstrates a practical and scalable approach to modern data analytics, combining technical tools with domain knowledge in finance.</a:t>
            </a:r>
          </a:p>
          <a:p>
            <a:pPr marL="228600" indent="-228600">
              <a:spcAft>
                <a:spcPts val="800"/>
              </a:spcAft>
              <a:buFont typeface="Arial" panose="020B0604020202020204" pitchFamily="34" charset="0"/>
              <a:buChar char="•"/>
              <a:tabLst>
                <a:tab pos="4229100" algn="ctr"/>
              </a:tabLst>
            </a:pPr>
            <a:endParaRPr lang="en-US" sz="18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88544" y="1082801"/>
            <a:ext cx="4762910" cy="3754874"/>
          </a:xfrm>
          <a:prstGeom prst="rect">
            <a:avLst/>
          </a:prstGeom>
          <a:noFill/>
        </p:spPr>
        <p:txBody>
          <a:bodyPr wrap="square">
            <a:spAutoFit/>
          </a:bodyPr>
          <a:lstStyle/>
          <a:p>
            <a:pPr marL="628650" lvl="1" indent="-171450">
              <a:buFont typeface="Arial" panose="020B0604020202020204" pitchFamily="34" charset="0"/>
              <a:buChar char="•"/>
            </a:pPr>
            <a:r>
              <a:rPr lang="en-US" sz="1100" dirty="0"/>
              <a:t>The core problem addressed in this project is the difficulty in analyzing large, complex, and fragmented financial and economic datasets. Data such as stock indices, GDP, inflation, and market indicators are often scattered and hard to interpret, making it challenging to derive meaningful insights.</a:t>
            </a:r>
          </a:p>
          <a:p>
            <a:pPr marL="628650" lvl="1" indent="-171450">
              <a:buFont typeface="Arial" panose="020B0604020202020204" pitchFamily="34" charset="0"/>
              <a:buChar char="•"/>
            </a:pPr>
            <a:r>
              <a:rPr lang="en-US" sz="1100" dirty="0"/>
              <a:t>This problem is significant because inaccurate or delayed analysis can lead to poor financial decisions, increased risk exposure, and ineffective planning. Understanding market trends and economic conditions is crucial for timely and informed decision-making.</a:t>
            </a:r>
          </a:p>
          <a:p>
            <a:pPr marL="628650" lvl="1" indent="-171450">
              <a:buFont typeface="Arial" panose="020B0604020202020204" pitchFamily="34" charset="0"/>
              <a:buChar char="•"/>
            </a:pPr>
            <a:r>
              <a:rPr lang="en-US" sz="1100" dirty="0"/>
              <a:t>The primary users affected include financial analysts, investors, business decision-makers, and students in the finance and analytics domain who rely on accurate data insights.</a:t>
            </a:r>
          </a:p>
          <a:p>
            <a:pPr marL="628650" lvl="1" indent="-171450">
              <a:buFont typeface="Arial" panose="020B0604020202020204" pitchFamily="34" charset="0"/>
              <a:buChar char="•"/>
            </a:pPr>
            <a:r>
              <a:rPr lang="en-US" sz="1100" dirty="0"/>
              <a:t>Existing tools like Microsoft Excel often provide limited visualization and require manual effort, while many dashboards lack integration of multiple economic indicators. Additionally, traditional approaches do not effectively utilize AI for automated insights.</a:t>
            </a:r>
          </a:p>
          <a:p>
            <a:pPr marL="628650" lvl="1" indent="-171450">
              <a:buFont typeface="Arial" panose="020B0604020202020204" pitchFamily="34" charset="0"/>
              <a:buChar char="•"/>
            </a:pPr>
            <a:r>
              <a:rPr lang="en-US" sz="1100" dirty="0"/>
              <a:t>The scope of this project is limited to analyzing historical financial and economic data using Microsoft Power BI and AI tools. It focuses on data cleaning, visualization, and insight generation, and does not include real-time data processing or advanced predictive modeling.</a:t>
            </a:r>
          </a:p>
          <a:p>
            <a:pPr marL="685800" lvl="1" indent="-228600">
              <a:spcAft>
                <a:spcPts val="800"/>
              </a:spcAft>
              <a:buFont typeface="Arial" panose="020B0604020202020204" pitchFamily="34" charset="0"/>
              <a:buChar char="•"/>
              <a:tabLst>
                <a:tab pos="4229100" algn="ctr"/>
              </a:tabLst>
            </a:pP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285750" indent="-285750">
              <a:buFont typeface="Arial" panose="020B0604020202020204" pitchFamily="34" charset="0"/>
              <a:buChar char="•"/>
            </a:pPr>
            <a:r>
              <a:rPr lang="en-US" sz="1100" dirty="0"/>
              <a:t>The proposed solution is to develop an integrated Business Intelligence system that combines data cleaning, analysis, and visualization with AI-assisted insights. This approach transforms complex financial and economic datasets into clear, interactive dashboards for better understanding and decision-making.</a:t>
            </a:r>
          </a:p>
          <a:p>
            <a:pPr marL="285750" indent="-285750">
              <a:buFont typeface="Arial" panose="020B0604020202020204" pitchFamily="34" charset="0"/>
              <a:buChar char="•"/>
            </a:pPr>
            <a:r>
              <a:rPr lang="en-US" sz="1100" dirty="0"/>
              <a:t>The methodology involves collecting historical financial data, cleaning and preprocessing it using Microsoft Excel, and performing analysis using Microsoft Power BI. Key metrics such as volatility, risk levels, and economic indicators are calculated using DAX measures. AI tools like Microsoft Copilot and ChatGPT are used to generate summaries, interpret insights, and assist in report creation.</a:t>
            </a:r>
          </a:p>
          <a:p>
            <a:pPr marL="285750" indent="-285750">
              <a:buFont typeface="Arial" panose="020B0604020202020204" pitchFamily="34" charset="0"/>
              <a:buChar char="•"/>
            </a:pPr>
            <a:r>
              <a:rPr lang="en-US" sz="1100" dirty="0"/>
              <a:t>The process includes data ingestion, cleaning, transformation, analysis, visualization, and AI-based insight generation. The final output is a set of interactive dashboards that allow users to explore trends, compare indicators, and identify high-risk periods.</a:t>
            </a:r>
          </a:p>
          <a:p>
            <a:pPr marL="285750" indent="-285750">
              <a:buFont typeface="Arial" panose="020B0604020202020204" pitchFamily="34" charset="0"/>
              <a:buChar char="•"/>
            </a:pPr>
            <a:r>
              <a:rPr lang="en-US" sz="1100" dirty="0"/>
              <a:t>This solution improves upon existing methods by integrating multiple data sources into a single platform, providing dynamic visualizations, and leveraging AI to automate analysis and reporting. Key benefits include reduced manual effort, improved accuracy, faster decision-making, and enhanced clarity of complex financial insights.</a:t>
            </a:r>
          </a:p>
          <a:p>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01F64-E566-B379-2430-DBE36F4145A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7ED2F44-B7A6-25B4-8F2F-78F1B238D2BC}"/>
              </a:ext>
            </a:extLst>
          </p:cNvPr>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a:extLst>
              <a:ext uri="{FF2B5EF4-FFF2-40B4-BE49-F238E27FC236}">
                <a16:creationId xmlns:a16="http://schemas.microsoft.com/office/drawing/2014/main" id="{8D6BAA32-E5AC-EEF0-F7BF-AE4FBF7ACE9F}"/>
              </a:ext>
            </a:extLst>
          </p:cNvPr>
          <p:cNvSpPr/>
          <p:nvPr/>
        </p:nvSpPr>
        <p:spPr>
          <a:xfrm>
            <a:off x="221792"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a:extLst>
              <a:ext uri="{FF2B5EF4-FFF2-40B4-BE49-F238E27FC236}">
                <a16:creationId xmlns:a16="http://schemas.microsoft.com/office/drawing/2014/main" id="{8D37CA3E-C605-49D4-ADFC-E7B1EBD26C79}"/>
              </a:ext>
            </a:extLst>
          </p:cNvPr>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a:extLst>
              <a:ext uri="{FF2B5EF4-FFF2-40B4-BE49-F238E27FC236}">
                <a16:creationId xmlns:a16="http://schemas.microsoft.com/office/drawing/2014/main" id="{E704B9A6-3CC8-4F86-7E55-F883843B0DC0}"/>
              </a:ext>
            </a:extLst>
          </p:cNvPr>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a:extLst>
              <a:ext uri="{FF2B5EF4-FFF2-40B4-BE49-F238E27FC236}">
                <a16:creationId xmlns:a16="http://schemas.microsoft.com/office/drawing/2014/main" id="{4CA1DED5-005C-0A94-ECCF-B25670F62947}"/>
              </a:ext>
            </a:extLst>
          </p:cNvPr>
          <p:cNvSpPr/>
          <p:nvPr/>
        </p:nvSpPr>
        <p:spPr>
          <a:xfrm>
            <a:off x="326848" y="1627247"/>
            <a:ext cx="4135676" cy="3071361"/>
          </a:xfrm>
          <a:prstGeom prst="rect">
            <a:avLst/>
          </a:prstGeom>
          <a:noFill/>
          <a:ln/>
        </p:spPr>
        <p:txBody>
          <a:bodyPr wrap="square" rtlCol="0" anchor="t"/>
          <a:lstStyle/>
          <a:p>
            <a:endParaRPr lang="en-US" sz="1050" b="1" dirty="0"/>
          </a:p>
          <a:p>
            <a:r>
              <a:rPr lang="en-US" sz="1050" b="1" dirty="0"/>
              <a:t>Raw Files (Primary Source):</a:t>
            </a:r>
            <a:br>
              <a:rPr lang="en-US" sz="1050" dirty="0"/>
            </a:br>
            <a:r>
              <a:rPr lang="en-US" sz="1050" dirty="0"/>
              <a:t>The dataset was collected in the form of CSV/Excel files containing financial and economic data such as stock indices, GDP, inflation, unemployment rates, and commodity prices. These files were imported into Microsoft Excel and Microsoft Power BI for further processing. </a:t>
            </a:r>
          </a:p>
          <a:p>
            <a:r>
              <a:rPr lang="en-US" sz="1050" b="1" dirty="0"/>
              <a:t>Public Data Sources:</a:t>
            </a:r>
            <a:br>
              <a:rPr lang="en-US" sz="1050" dirty="0"/>
            </a:br>
            <a:r>
              <a:rPr lang="en-US" sz="1050" dirty="0"/>
              <a:t>Data was obtained from publicly available financial datasets (e.g., market data platforms, open datasets like Kaggle, and economic reports). </a:t>
            </a:r>
          </a:p>
          <a:p>
            <a:r>
              <a:rPr lang="en-US" sz="1050" b="1" dirty="0"/>
              <a:t>Manual Data Preparation:</a:t>
            </a:r>
            <a:br>
              <a:rPr lang="en-US" sz="1050" dirty="0"/>
            </a:br>
            <a:r>
              <a:rPr lang="en-US" sz="1050" dirty="0"/>
              <a:t>Some data formatting and structuring were manually performed to ensure consistency and usability for analysis. </a:t>
            </a:r>
          </a:p>
          <a:p>
            <a:r>
              <a:rPr lang="en-US" sz="1050" b="1" dirty="0"/>
              <a:t>Database / API (Not Used):</a:t>
            </a:r>
            <a:br>
              <a:rPr lang="en-US" sz="1050" dirty="0"/>
            </a:br>
            <a:r>
              <a:rPr lang="en-US" sz="1050" dirty="0"/>
              <a:t>This project does not include direct database connections or live API integrations; it is based on static, historical datasets. </a:t>
            </a:r>
          </a:p>
          <a:p>
            <a:r>
              <a:rPr lang="en-US" sz="1050" b="1" dirty="0"/>
              <a:t>Data Uploads:</a:t>
            </a:r>
            <a:br>
              <a:rPr lang="en-US" sz="1050" dirty="0"/>
            </a:br>
            <a:r>
              <a:rPr lang="en-US" sz="1050" dirty="0"/>
              <a:t>Cleaned datasets were uploaded into Power BI for visualization and dashboard creation. </a:t>
            </a:r>
          </a:p>
          <a:p>
            <a:pPr marL="0" indent="0">
              <a:buNone/>
            </a:pPr>
            <a:endParaRPr lang="en-US" sz="3200" dirty="0">
              <a:latin typeface="Lato" panose="020F0502020204030203" pitchFamily="34" charset="0"/>
              <a:cs typeface="Arial" panose="020B0604020202020204" pitchFamily="34" charset="0"/>
            </a:endParaRPr>
          </a:p>
        </p:txBody>
      </p:sp>
      <p:sp>
        <p:nvSpPr>
          <p:cNvPr id="10" name="Shape 8">
            <a:extLst>
              <a:ext uri="{FF2B5EF4-FFF2-40B4-BE49-F238E27FC236}">
                <a16:creationId xmlns:a16="http://schemas.microsoft.com/office/drawing/2014/main" id="{A4EF0D4C-57DE-64B9-2100-CEAB24B114ED}"/>
              </a:ext>
            </a:extLst>
          </p:cNvPr>
          <p:cNvSpPr/>
          <p:nvPr/>
        </p:nvSpPr>
        <p:spPr>
          <a:xfrm>
            <a:off x="4715968" y="1230154"/>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a:extLst>
              <a:ext uri="{FF2B5EF4-FFF2-40B4-BE49-F238E27FC236}">
                <a16:creationId xmlns:a16="http://schemas.microsoft.com/office/drawing/2014/main" id="{0E072E67-1B86-506F-C28F-555D816B84C3}"/>
              </a:ext>
            </a:extLst>
          </p:cNvPr>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a:extLst>
              <a:ext uri="{FF2B5EF4-FFF2-40B4-BE49-F238E27FC236}">
                <a16:creationId xmlns:a16="http://schemas.microsoft.com/office/drawing/2014/main" id="{930B9C38-3DCE-BC1B-E290-02E406BB3BD6}"/>
              </a:ext>
            </a:extLst>
          </p:cNvPr>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6" name="Text 14">
            <a:extLst>
              <a:ext uri="{FF2B5EF4-FFF2-40B4-BE49-F238E27FC236}">
                <a16:creationId xmlns:a16="http://schemas.microsoft.com/office/drawing/2014/main" id="{F61EA736-DB4F-B01D-2333-D0E445C123D2}"/>
              </a:ext>
            </a:extLst>
          </p:cNvPr>
          <p:cNvSpPr/>
          <p:nvPr/>
        </p:nvSpPr>
        <p:spPr>
          <a:xfrm>
            <a:off x="326848" y="3006432"/>
            <a:ext cx="3840480" cy="310896"/>
          </a:xfrm>
          <a:prstGeom prst="rect">
            <a:avLst/>
          </a:prstGeom>
          <a:noFill/>
          <a:ln/>
        </p:spPr>
        <p:txBody>
          <a:bodyPr wrap="square" rtlCol="0" anchor="ctr"/>
          <a:lstStyle/>
          <a:p>
            <a:pPr marL="0" indent="0">
              <a:buNone/>
            </a:pPr>
            <a:endParaRPr lang="en-US" sz="1600" dirty="0">
              <a:latin typeface="Lato" panose="020F0502020204030203" pitchFamily="34" charset="0"/>
              <a:cs typeface="Arial" panose="020B0604020202020204" pitchFamily="34" charset="0"/>
            </a:endParaRPr>
          </a:p>
        </p:txBody>
      </p:sp>
      <p:sp>
        <p:nvSpPr>
          <p:cNvPr id="17" name="Text 15">
            <a:extLst>
              <a:ext uri="{FF2B5EF4-FFF2-40B4-BE49-F238E27FC236}">
                <a16:creationId xmlns:a16="http://schemas.microsoft.com/office/drawing/2014/main" id="{31B61283-AFA9-D184-D3C4-00EE695F0255}"/>
              </a:ext>
            </a:extLst>
          </p:cNvPr>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0" name="Text 18">
            <a:extLst>
              <a:ext uri="{FF2B5EF4-FFF2-40B4-BE49-F238E27FC236}">
                <a16:creationId xmlns:a16="http://schemas.microsoft.com/office/drawing/2014/main" id="{94747364-EEC5-84FB-983B-EC0A9CC6F284}"/>
              </a:ext>
            </a:extLst>
          </p:cNvPr>
          <p:cNvSpPr/>
          <p:nvPr/>
        </p:nvSpPr>
        <p:spPr>
          <a:xfrm>
            <a:off x="4761688" y="3006432"/>
            <a:ext cx="3840480" cy="310896"/>
          </a:xfrm>
          <a:prstGeom prst="rect">
            <a:avLst/>
          </a:prstGeom>
          <a:noFill/>
          <a:ln/>
        </p:spPr>
        <p:txBody>
          <a:bodyPr wrap="square" rtlCol="0" anchor="ctr"/>
          <a:lstStyle/>
          <a:p>
            <a:pPr marL="0" indent="0">
              <a:buNone/>
            </a:pPr>
            <a:endParaRPr lang="en-US" sz="1600" dirty="0">
              <a:latin typeface="Lato" panose="020F0502020204030203" pitchFamily="34" charset="0"/>
              <a:cs typeface="Arial" panose="020B0604020202020204" pitchFamily="34" charset="0"/>
            </a:endParaRPr>
          </a:p>
        </p:txBody>
      </p:sp>
      <p:sp>
        <p:nvSpPr>
          <p:cNvPr id="21" name="Text 19">
            <a:extLst>
              <a:ext uri="{FF2B5EF4-FFF2-40B4-BE49-F238E27FC236}">
                <a16:creationId xmlns:a16="http://schemas.microsoft.com/office/drawing/2014/main" id="{D0816DCC-5A0B-627C-D261-C32813313007}"/>
              </a:ext>
            </a:extLst>
          </p:cNvPr>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 name="Rectangle 1">
            <a:extLst>
              <a:ext uri="{FF2B5EF4-FFF2-40B4-BE49-F238E27FC236}">
                <a16:creationId xmlns:a16="http://schemas.microsoft.com/office/drawing/2014/main" id="{07E6AB10-EEE9-ABEB-141D-BD7DF28F3B2B}"/>
              </a:ext>
            </a:extLst>
          </p:cNvPr>
          <p:cNvSpPr>
            <a:spLocks noChangeArrowheads="1"/>
          </p:cNvSpPr>
          <p:nvPr/>
        </p:nvSpPr>
        <p:spPr bwMode="auto">
          <a:xfrm>
            <a:off x="4807407" y="1410551"/>
            <a:ext cx="4114800"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9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Data Cleaning:</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Raw data is first processed using Microsoft Excel and Power BI Query Editor.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Removed duplicate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Handled missing/null values (replaced or filtered)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Corrected data types (date, numeric, percentage)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Standardized formats (consistent naming, units, date formats)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Applied data validation to ensure accuracy </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Data Transformation:</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The cleaned data is structured for analysis in Microsoft Power BI: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Created calculated columns and measures using DAX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Converted raw values into meaningful metrics (e.g., volatility, growth rates)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Aggregated data (monthly/yearly summaries)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Established relationships between datasets for integrated analysis </a:t>
            </a:r>
          </a:p>
          <a:p>
            <a:pPr marL="0" marR="0" lvl="0" indent="0" algn="l" defTabSz="914400" rtl="0" eaLnBrk="0" fontAlgn="base" latinLnBrk="0" hangingPunct="0">
              <a:lnSpc>
                <a:spcPct val="100000"/>
              </a:lnSpc>
              <a:spcBef>
                <a:spcPct val="0"/>
              </a:spcBef>
              <a:spcAft>
                <a:spcPct val="0"/>
              </a:spcAft>
              <a:buClrTx/>
              <a:buSzTx/>
              <a:tabLst/>
            </a:pPr>
            <a:r>
              <a:rPr kumimoji="0" lang="en-US" altLang="en-US" sz="900" b="1" i="0" u="none" strike="noStrike" cap="none" normalizeH="0" baseline="0" dirty="0">
                <a:ln>
                  <a:noFill/>
                </a:ln>
                <a:solidFill>
                  <a:schemeClr val="tx1"/>
                </a:solidFill>
                <a:effectLst/>
                <a:latin typeface="Arial" panose="020B0604020202020204" pitchFamily="34" charset="0"/>
              </a:rPr>
              <a:t>Data Analysis:</a:t>
            </a:r>
            <a:br>
              <a:rPr kumimoji="0" lang="en-US" altLang="en-US" sz="900" b="0" i="0" u="none" strike="noStrike" cap="none" normalizeH="0" baseline="0" dirty="0">
                <a:ln>
                  <a:noFill/>
                </a:ln>
                <a:solidFill>
                  <a:schemeClr val="tx1"/>
                </a:solidFill>
                <a:effectLst/>
                <a:latin typeface="Arial" panose="020B0604020202020204" pitchFamily="34" charset="0"/>
              </a:rPr>
            </a:br>
            <a:r>
              <a:rPr kumimoji="0" lang="en-US" altLang="en-US" sz="900" b="0" i="0" u="none" strike="noStrike" cap="none" normalizeH="0" baseline="0" dirty="0">
                <a:ln>
                  <a:noFill/>
                </a:ln>
                <a:solidFill>
                  <a:schemeClr val="tx1"/>
                </a:solidFill>
                <a:effectLst/>
                <a:latin typeface="Arial" panose="020B0604020202020204" pitchFamily="34" charset="0"/>
              </a:rPr>
              <a:t>Analytical techniques are applied to extract insights: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KPI calculation (risk levels, economic stress, trends)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Trend analysis using line/area charts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Comparative analysis across indicators (GDP vs market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Interactive filtering using slicers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AI-assisted insights using Microsoft Copilot and ChatGPT for summarization and </a:t>
            </a:r>
            <a:r>
              <a:rPr kumimoji="0" lang="en-US" altLang="en-US" sz="1050" b="0" i="0" u="none" strike="noStrike" cap="none" normalizeH="0" baseline="0" dirty="0">
                <a:ln>
                  <a:noFill/>
                </a:ln>
                <a:solidFill>
                  <a:schemeClr val="tx1"/>
                </a:solidFill>
                <a:effectLst/>
                <a:latin typeface="Arial" panose="020B0604020202020204" pitchFamily="34" charset="0"/>
              </a:rPr>
              <a:t>interpretation</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282510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endParaRPr lang="en-US" sz="1600" dirty="0">
              <a:latin typeface="Lato" panose="020F0502020204030203" pitchFamily="34" charset="0"/>
              <a:cs typeface="Arial" panose="020B0604020202020204" pitchFamily="34" charset="0"/>
            </a:endParaRPr>
          </a:p>
        </p:txBody>
      </p:sp>
      <p:sp>
        <p:nvSpPr>
          <p:cNvPr id="9" name="Text 7"/>
          <p:cNvSpPr/>
          <p:nvPr/>
        </p:nvSpPr>
        <p:spPr>
          <a:xfrm>
            <a:off x="4614090" y="1495357"/>
            <a:ext cx="4135676" cy="2993294"/>
          </a:xfrm>
          <a:prstGeom prst="rect">
            <a:avLst/>
          </a:prstGeom>
          <a:noFill/>
          <a:ln/>
        </p:spPr>
        <p:txBody>
          <a:bodyPr wrap="square" rtlCol="0" anchor="t"/>
          <a:lstStyle/>
          <a:p>
            <a:r>
              <a:rPr lang="en-US" sz="1100" b="1" dirty="0"/>
              <a:t>Interactive Dashboard (Primary Output):</a:t>
            </a:r>
            <a:br>
              <a:rPr lang="en-US" sz="1100" dirty="0"/>
            </a:br>
            <a:r>
              <a:rPr lang="en-US" sz="1100" dirty="0"/>
              <a:t>The main output is an interactive dashboard created using Microsoft Power BI. It consists of multiple pages displaying: </a:t>
            </a:r>
          </a:p>
          <a:p>
            <a:pPr lvl="1"/>
            <a:r>
              <a:rPr lang="en-US" sz="1100" dirty="0"/>
              <a:t>Market Performance &amp; Volatility </a:t>
            </a:r>
          </a:p>
          <a:p>
            <a:pPr lvl="1"/>
            <a:r>
              <a:rPr lang="en-US" sz="1100" dirty="0"/>
              <a:t>Economic Stress &amp; Risk Analysis </a:t>
            </a:r>
          </a:p>
          <a:p>
            <a:pPr lvl="1"/>
            <a:r>
              <a:rPr lang="en-US" sz="1100" dirty="0"/>
              <a:t>Investment Insights &amp; Global Impact</a:t>
            </a:r>
            <a:br>
              <a:rPr lang="en-US" sz="1100" dirty="0"/>
            </a:br>
            <a:r>
              <a:rPr lang="en-US" sz="1100" dirty="0"/>
              <a:t>The dashboard includes KPI cards, line/area charts, pie charts, and slicers that allow users to filter data dynamically and explore insights. </a:t>
            </a:r>
          </a:p>
          <a:p>
            <a:r>
              <a:rPr lang="en-US" sz="1100" b="1" dirty="0"/>
              <a:t>Charts &amp; Visualizations:</a:t>
            </a:r>
            <a:br>
              <a:rPr lang="en-US" sz="1100" dirty="0"/>
            </a:br>
            <a:r>
              <a:rPr lang="en-US" sz="1100" dirty="0"/>
              <a:t>Various visual elements such as trend graphs, comparison charts, and distribution visuals are used to clearly represent financial patterns, relationships, and risk levels. </a:t>
            </a:r>
          </a:p>
          <a:p>
            <a:r>
              <a:rPr lang="en-US" sz="1100" b="1" dirty="0"/>
              <a:t>Analytical Report:</a:t>
            </a:r>
            <a:br>
              <a:rPr lang="en-US" sz="1100" dirty="0"/>
            </a:br>
            <a:r>
              <a:rPr lang="en-US" sz="1100" dirty="0"/>
              <a:t>A structured report is generated with the help of Microsoft Excel and AI tools like ChatGPT. It includes explanations of insights, findings, and conclusions in a clear and professional format. </a:t>
            </a:r>
          </a:p>
          <a:p>
            <a:endParaRPr lang="en-US" sz="900" dirty="0"/>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endParaRPr lang="en-US" sz="1600" dirty="0">
              <a:latin typeface="Lato" panose="020F0502020204030203" pitchFamily="34" charset="0"/>
              <a:cs typeface="Arial" panose="020B0604020202020204" pitchFamily="34" charset="0"/>
            </a:endParaRPr>
          </a:p>
        </p:txBody>
      </p:sp>
      <p:sp>
        <p:nvSpPr>
          <p:cNvPr id="13" name="Text 11"/>
          <p:cNvSpPr/>
          <p:nvPr/>
        </p:nvSpPr>
        <p:spPr>
          <a:xfrm>
            <a:off x="770434" y="4415465"/>
            <a:ext cx="4023360" cy="1188720"/>
          </a:xfrm>
          <a:prstGeom prst="rect">
            <a:avLst/>
          </a:prstGeom>
          <a:noFill/>
          <a:ln/>
        </p:spPr>
        <p:txBody>
          <a:bodyPr wrap="square" rtlCol="0" anchor="t"/>
          <a:lstStyle/>
          <a:p>
            <a:pPr marL="0" indent="0">
              <a:buNone/>
            </a:pPr>
            <a:endParaRPr lang="en-US" sz="600" dirty="0">
              <a:latin typeface="Lato" panose="020F0502020204030203" pitchFamily="34" charset="0"/>
              <a:cs typeface="Arial" panose="020B0604020202020204" pitchFamily="34" charset="0"/>
            </a:endParaRPr>
          </a:p>
        </p:txBody>
      </p:sp>
      <p:sp>
        <p:nvSpPr>
          <p:cNvPr id="14" name="Shape 12"/>
          <p:cNvSpPr/>
          <p:nvPr/>
        </p:nvSpPr>
        <p:spPr>
          <a:xfrm>
            <a:off x="267513" y="1078408"/>
            <a:ext cx="4114800" cy="384048"/>
          </a:xfrm>
          <a:prstGeom prst="rect">
            <a:avLst/>
          </a:prstGeom>
          <a:solidFill>
            <a:schemeClr val="accent1">
              <a:lumMod val="20000"/>
              <a:lumOff val="80000"/>
            </a:schemeClr>
          </a:solidFill>
          <a:ln/>
        </p:spPr>
        <p:txBody>
          <a:bodyPr/>
          <a:lstStyle/>
          <a:p>
            <a:endParaRPr lang="en-IN" dirty="0">
              <a:latin typeface="Lato" panose="020F0502020204030203" pitchFamily="34" charset="0"/>
            </a:endParaRPr>
          </a:p>
        </p:txBody>
      </p:sp>
      <p:sp>
        <p:nvSpPr>
          <p:cNvPr id="15" name="Shape 13"/>
          <p:cNvSpPr/>
          <p:nvPr/>
        </p:nvSpPr>
        <p:spPr>
          <a:xfrm>
            <a:off x="4062273" y="1078408"/>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109689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24528" y="1078408"/>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419288" y="106032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670248" y="1056684"/>
            <a:ext cx="3840480" cy="351108"/>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2E428A92-3A9D-DB34-D3A4-985FCC71EB62}"/>
              </a:ext>
            </a:extLst>
          </p:cNvPr>
          <p:cNvSpPr txBox="1"/>
          <p:nvPr/>
        </p:nvSpPr>
        <p:spPr>
          <a:xfrm>
            <a:off x="246639" y="1495356"/>
            <a:ext cx="4135675" cy="3277820"/>
          </a:xfrm>
          <a:prstGeom prst="rect">
            <a:avLst/>
          </a:prstGeom>
          <a:noFill/>
        </p:spPr>
        <p:txBody>
          <a:bodyPr wrap="square" rtlCol="0">
            <a:spAutoFit/>
          </a:bodyPr>
          <a:lstStyle/>
          <a:p>
            <a:r>
              <a:rPr lang="en-US" sz="900" b="1" dirty="0"/>
              <a:t>Microsoft Excel (Data Preparation Layer):</a:t>
            </a:r>
            <a:br>
              <a:rPr lang="en-US" sz="900" dirty="0"/>
            </a:br>
            <a:r>
              <a:rPr lang="en-US" sz="900" dirty="0"/>
              <a:t>Excel is used as the initial stage for handling raw data. Datasets are imported, cleaned, and structured by removing duplicates, fixing formats, and handling missing values. It acts as the foundation before moving data into advanced tools. </a:t>
            </a:r>
          </a:p>
          <a:p>
            <a:r>
              <a:rPr lang="en-US" sz="900" b="1" dirty="0"/>
              <a:t>Microsoft Power BI (Analysis &amp; Visualization Layer):</a:t>
            </a:r>
            <a:br>
              <a:rPr lang="en-US" sz="900" dirty="0"/>
            </a:br>
            <a:r>
              <a:rPr lang="en-US" sz="900" dirty="0"/>
              <a:t>Cleaned data from Excel is imported into Power BI. Here, data modeling is performed by creating relationships, calculated columns, and DAX measures. Interactive dashboards are built to visualize KPIs such as volatility, economic stress, and investment trends. </a:t>
            </a:r>
          </a:p>
          <a:p>
            <a:r>
              <a:rPr lang="en-US" sz="900" b="1" dirty="0"/>
              <a:t>Microsoft Copilot (AI Assistance Layer):</a:t>
            </a:r>
            <a:br>
              <a:rPr lang="en-US" sz="900" dirty="0"/>
            </a:br>
            <a:r>
              <a:rPr lang="en-US" sz="900" dirty="0"/>
              <a:t>Copilot is integrated within Microsoft tools to automate tasks like summarizing data insights, suggesting formulas, and generating explanations. It reduces manual effort and speeds up analysis. </a:t>
            </a:r>
          </a:p>
          <a:p>
            <a:r>
              <a:rPr lang="en-US" sz="900" b="1" dirty="0"/>
              <a:t>ChatGPT (Insight &amp; Reporting Layer):</a:t>
            </a:r>
            <a:br>
              <a:rPr lang="en-US" sz="900" dirty="0"/>
            </a:br>
            <a:r>
              <a:rPr lang="en-US" sz="900" dirty="0"/>
              <a:t>ChatGPT is used externally to generate report content, explain dashboard insights, and refine analysis through prompt-based interaction. It helps convert technical findings into clear, professional explanations. </a:t>
            </a:r>
          </a:p>
          <a:p>
            <a:endParaRPr lang="en-US" sz="900" b="1" dirty="0"/>
          </a:p>
          <a:p>
            <a:r>
              <a:rPr lang="en-US" sz="900" b="1" dirty="0"/>
              <a:t>Overall Integration Flow:</a:t>
            </a:r>
          </a:p>
          <a:p>
            <a:r>
              <a:rPr lang="en-US" sz="900" b="1" dirty="0"/>
              <a:t>Excel (Data Cleaning) → Power BI (Analysis &amp; Dashboard) → Copilot &amp; ChatGPT (AI Insights &amp; Reporting)</a:t>
            </a:r>
            <a:endParaRPr lang="en-US" sz="900" dirty="0"/>
          </a:p>
          <a:p>
            <a:r>
              <a:rPr lang="en-US" sz="900" dirty="0"/>
              <a:t>This integration creates a seamless workflow from raw data to intelligent insights, combining traditional BI</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36976" y="2200479"/>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t>
            </a:r>
            <a:endParaRPr lang="en-US" sz="16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F96B5D67-EB19-3EA6-89CF-10253AA5E5D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4888" b="5318"/>
          <a:stretch>
            <a:fillRect/>
          </a:stretch>
        </p:blipFill>
        <p:spPr bwMode="auto">
          <a:xfrm>
            <a:off x="411480" y="2865796"/>
            <a:ext cx="2514600" cy="1783576"/>
          </a:xfrm>
          <a:prstGeom prst="rect">
            <a:avLst/>
          </a:prstGeom>
          <a:ln>
            <a:no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2445EE78-94BC-9057-A082-076C9AB7811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4117" b="5318"/>
          <a:stretch>
            <a:fillRect/>
          </a:stretch>
        </p:blipFill>
        <p:spPr bwMode="auto">
          <a:xfrm>
            <a:off x="3355848" y="2865796"/>
            <a:ext cx="2587752" cy="1727306"/>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2D163F0B-2105-F70E-C5D9-1BA0D6FB30C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101" t="3836" r="-1101" b="7397"/>
          <a:stretch>
            <a:fillRect/>
          </a:stretch>
        </p:blipFill>
        <p:spPr bwMode="auto">
          <a:xfrm>
            <a:off x="6226360" y="2894518"/>
            <a:ext cx="2643320" cy="1641683"/>
          </a:xfrm>
          <a:prstGeom prst="rect">
            <a:avLst/>
          </a:prstGeom>
          <a:ln>
            <a:noFill/>
          </a:ln>
          <a:extLst>
            <a:ext uri="{53640926-AAD7-44D8-BBD7-CCE9431645EC}">
              <a14:shadowObscured xmlns:a14="http://schemas.microsoft.com/office/drawing/2010/main"/>
            </a:ext>
          </a:extLst>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a:hlinkClick r:id="rId4" action="ppaction://hlinkfile"/>
          </p:cNvPr>
          <p:cNvSpPr/>
          <p:nvPr/>
        </p:nvSpPr>
        <p:spPr>
          <a:xfrm>
            <a:off x="320040" y="685800"/>
            <a:ext cx="8412480" cy="3977640"/>
          </a:xfrm>
          <a:prstGeom prst="rect">
            <a:avLst/>
          </a:prstGeom>
          <a:solidFill>
            <a:srgbClr val="ECEFF1"/>
          </a:solidFill>
          <a:ln w="25400">
            <a:solidFill>
              <a:srgbClr val="1B3A8A"/>
            </a:solidFill>
            <a:prstDash val="solid"/>
          </a:ln>
        </p:spPr>
        <p:txBody>
          <a:bodyPr/>
          <a:lstStyle/>
          <a:p>
            <a:endParaRPr lang="en-IN" dirty="0"/>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a:hlinkClick r:id="rId4" action="ppaction://hlinkfile"/>
          </p:cNvPr>
          <p:cNvSpPr/>
          <p:nvPr/>
        </p:nvSpPr>
        <p:spPr>
          <a:xfrm>
            <a:off x="134874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r>
              <a:rPr lang="en-US" sz="900" dirty="0">
                <a:solidFill>
                  <a:srgbClr val="607D8B"/>
                </a:solidFill>
                <a:latin typeface="Calibri" pitchFamily="34" charset="0"/>
                <a:ea typeface="Calibri" pitchFamily="34" charset="-122"/>
                <a:cs typeface="Calibri" pitchFamily="34" charset="-120"/>
              </a:rPr>
              <a:t>[</a:t>
            </a:r>
            <a:r>
              <a:rPr lang="en-IN" sz="900" dirty="0">
                <a:hlinkClick r:id="rId5"/>
              </a:rPr>
              <a:t>C:\Users\jeeva\Downloads\WhatsApp Video 2026-04-21 at 8.20.11 AM.mp4</a:t>
            </a:r>
            <a:r>
              <a:rPr lang="en-US" sz="900" dirty="0">
                <a:solidFill>
                  <a:srgbClr val="607D8B"/>
                </a:solidFill>
                <a:latin typeface="Calibri" pitchFamily="34" charset="0"/>
                <a:ea typeface="Calibri" pitchFamily="34" charset="-122"/>
                <a:cs typeface="Calibri" pitchFamily="34" charset="-120"/>
              </a:rPr>
              <a:t>]</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endParaRPr lang="en-US" sz="1100"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171450" indent="-171450">
              <a:buFont typeface="Arial" panose="020B0604020202020204" pitchFamily="34" charset="0"/>
              <a:buChar char="•"/>
            </a:pPr>
            <a:r>
              <a:rPr lang="en-US" sz="1050" dirty="0"/>
              <a:t>This project successfully demonstrated how financial and economic data can be transformed into meaningful insights using Business Intelligence and AI tools. The main objective was to clean, analyze, and visualize complex datasets to support better decision-making, which was effectively achieved through a structured approach.</a:t>
            </a:r>
          </a:p>
          <a:p>
            <a:pPr marL="171450" indent="-171450">
              <a:buFont typeface="Arial" panose="020B0604020202020204" pitchFamily="34" charset="0"/>
              <a:buChar char="•"/>
            </a:pPr>
            <a:r>
              <a:rPr lang="en-US" sz="1050" dirty="0"/>
              <a:t>Using Microsoft Excel for data preprocessing and Microsoft Power BI for visualization, interactive dashboards were developed to represent market performance, economic stress, and investment trends. The integration of AI tools such as Microsoft Copilot and ChatGPT further enhanced the project by enabling faster insight generation and improving the clarity of analysis.</a:t>
            </a:r>
          </a:p>
          <a:p>
            <a:pPr marL="171450" indent="-171450">
              <a:buFont typeface="Arial" panose="020B0604020202020204" pitchFamily="34" charset="0"/>
              <a:buChar char="•"/>
            </a:pPr>
            <a:r>
              <a:rPr lang="en-US" sz="1050" dirty="0"/>
              <a:t>Key findings included the identification of volatility patterns, relationships between macroeconomic indicators and market behavior, and improved data accuracy after cleaning. All the defined objectives were successfully achieved, including data preprocessing, analysis, dashboard creation, and AI-assisted reporting.</a:t>
            </a:r>
          </a:p>
          <a:p>
            <a:pPr marL="171450" indent="-171450">
              <a:buFont typeface="Arial" panose="020B0604020202020204" pitchFamily="34" charset="0"/>
              <a:buChar char="•"/>
            </a:pPr>
            <a:r>
              <a:rPr lang="en-US" sz="1050" dirty="0"/>
              <a:t>Overall, this project adds value to the finance and analytics domain by presenting a practical, scalable approach to data-driven decision-making. It highlights how combining BI tools with AI can simplify complex data analysis, improve efficiency, and support informed decision-making in real-world scenarios.</a:t>
            </a:r>
          </a:p>
          <a:p>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171450" indent="-171450">
              <a:buFont typeface="Arial" panose="020B0604020202020204" pitchFamily="34" charset="0"/>
              <a:buChar char="•"/>
            </a:pPr>
            <a:r>
              <a:rPr lang="en-US" sz="1100" dirty="0"/>
              <a:t>Integrate </a:t>
            </a:r>
            <a:r>
              <a:rPr lang="en-US" sz="1100" b="1" dirty="0"/>
              <a:t>real-time data</a:t>
            </a:r>
            <a:r>
              <a:rPr lang="en-US" sz="1100" dirty="0"/>
              <a:t> using APIs or live connections in Microsoft Power BI for up-to-date analysis. </a:t>
            </a:r>
          </a:p>
          <a:p>
            <a:pPr marL="171450" indent="-171450">
              <a:buFont typeface="Arial" panose="020B0604020202020204" pitchFamily="34" charset="0"/>
              <a:buChar char="•"/>
            </a:pPr>
            <a:r>
              <a:rPr lang="en-US" sz="1100" dirty="0"/>
              <a:t>Implement </a:t>
            </a:r>
            <a:r>
              <a:rPr lang="en-US" sz="1100" b="1" dirty="0"/>
              <a:t>machine learning models</a:t>
            </a:r>
            <a:r>
              <a:rPr lang="en-US" sz="1100" dirty="0"/>
              <a:t> for forecasting market trends, risk prediction, and anomaly detection. </a:t>
            </a:r>
          </a:p>
          <a:p>
            <a:pPr marL="171450" indent="-171450">
              <a:buFont typeface="Arial" panose="020B0604020202020204" pitchFamily="34" charset="0"/>
              <a:buChar char="•"/>
            </a:pPr>
            <a:r>
              <a:rPr lang="en-US" sz="1100" dirty="0"/>
              <a:t>Expand the dataset to include </a:t>
            </a:r>
            <a:r>
              <a:rPr lang="en-US" sz="1100" b="1" dirty="0"/>
              <a:t>more global financial indicators</a:t>
            </a:r>
            <a:r>
              <a:rPr lang="en-US" sz="1100" dirty="0"/>
              <a:t> and diverse data sources for deeper insights. </a:t>
            </a:r>
          </a:p>
          <a:p>
            <a:pPr marL="171450" indent="-171450">
              <a:buFont typeface="Arial" panose="020B0604020202020204" pitchFamily="34" charset="0"/>
              <a:buChar char="•"/>
            </a:pPr>
            <a:r>
              <a:rPr lang="en-US" sz="1100" dirty="0"/>
              <a:t>Develop a </a:t>
            </a:r>
            <a:r>
              <a:rPr lang="en-US" sz="1100" b="1" dirty="0"/>
              <a:t>web/mobile interface</a:t>
            </a:r>
            <a:r>
              <a:rPr lang="en-US" sz="1100" dirty="0"/>
              <a:t> (e.g., Power Apps) for easier access by non-technical users. </a:t>
            </a:r>
          </a:p>
          <a:p>
            <a:pPr marL="171450" indent="-171450">
              <a:buFont typeface="Arial" panose="020B0604020202020204" pitchFamily="34" charset="0"/>
              <a:buChar char="•"/>
            </a:pPr>
            <a:r>
              <a:rPr lang="en-US" sz="1100" dirty="0"/>
              <a:t>Create a </a:t>
            </a:r>
            <a:r>
              <a:rPr lang="en-US" sz="1100" b="1" dirty="0"/>
              <a:t>standardized prompt library</a:t>
            </a:r>
            <a:r>
              <a:rPr lang="en-US" sz="1100" dirty="0"/>
              <a:t> for AI tools like ChatGPT and Microsoft Copilot to ensure consistent and accurate insights. </a:t>
            </a:r>
          </a:p>
          <a:p>
            <a:pPr marL="171450" indent="-171450">
              <a:buFont typeface="Arial" panose="020B0604020202020204" pitchFamily="34" charset="0"/>
              <a:buChar char="•"/>
            </a:pPr>
            <a:r>
              <a:rPr lang="en-US" sz="1100" dirty="0"/>
              <a:t>Enhance dashboards with </a:t>
            </a:r>
            <a:r>
              <a:rPr lang="en-US" sz="1100" b="1" dirty="0"/>
              <a:t>advanced analytics features</a:t>
            </a:r>
            <a:r>
              <a:rPr lang="en-US" sz="1100" dirty="0"/>
              <a:t> such as drill-through, scenario analysis, and predictive visuals. </a:t>
            </a:r>
          </a:p>
          <a:p>
            <a:pPr marL="171450" indent="-171450">
              <a:buFont typeface="Arial" panose="020B0604020202020204" pitchFamily="34" charset="0"/>
              <a:buChar char="•"/>
            </a:pPr>
            <a:r>
              <a:rPr lang="en-US" sz="1100" dirty="0"/>
              <a:t>Enable </a:t>
            </a:r>
            <a:r>
              <a:rPr lang="en-US" sz="1100" b="1" dirty="0"/>
              <a:t>automated report generation</a:t>
            </a:r>
            <a:r>
              <a:rPr lang="en-US" sz="1100" dirty="0"/>
              <a:t> and alerts for critical changes in market conditions. </a:t>
            </a:r>
          </a:p>
          <a:p>
            <a:pPr marL="171450" indent="-171450">
              <a:buFont typeface="Arial" panose="020B0604020202020204" pitchFamily="34" charset="0"/>
              <a:buChar char="•"/>
            </a:pPr>
            <a:r>
              <a:rPr lang="en-US" sz="1100" dirty="0"/>
              <a:t>Improve scalability to handle </a:t>
            </a:r>
            <a:r>
              <a:rPr lang="en-US" sz="1100" b="1" dirty="0"/>
              <a:t>large-scale datasets</a:t>
            </a:r>
            <a:r>
              <a:rPr lang="en-US" sz="1100" dirty="0"/>
              <a:t> and enterprise-level applications. </a:t>
            </a:r>
          </a:p>
          <a:p>
            <a:pPr marL="171450" indent="-171450">
              <a:buFont typeface="Arial" panose="020B0604020202020204" pitchFamily="34" charset="0"/>
              <a:buChar char="•"/>
            </a:pPr>
            <a:r>
              <a:rPr lang="en-US" sz="1100" dirty="0"/>
              <a:t>These enhancements can make the project more powerful, scalable, and suitable for real-world financial and business applications.</a:t>
            </a:r>
          </a:p>
          <a:p>
            <a:pPr marL="171450" indent="-171450">
              <a:buFont typeface="Arial" panose="020B0604020202020204" pitchFamily="34" charset="0"/>
              <a:buChar char="•"/>
            </a:pPr>
            <a:endParaRPr lang="en-US" sz="12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TotalTime>
  <Words>1818</Words>
  <Application>Microsoft Office PowerPoint</Application>
  <PresentationFormat>On-screen Show (16:9)</PresentationFormat>
  <Paragraphs>117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JEEVA THANGARAJ</cp:lastModifiedBy>
  <cp:revision>26</cp:revision>
  <dcterms:created xsi:type="dcterms:W3CDTF">2026-02-18T09:17:23Z</dcterms:created>
  <dcterms:modified xsi:type="dcterms:W3CDTF">2026-04-21T03:03:20Z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